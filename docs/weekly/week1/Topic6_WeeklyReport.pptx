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5156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TOPIC 6 · TASK 1.3 · 第 1 周进展汇报 · 2026-09-17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2194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5600" b="1">
                <a:solidFill>
                  <a:srgbClr val="14263B"/>
                </a:solidFill>
                <a:latin typeface="Noto Serif SC"/>
              </a:rPr>
              <a:t>SFT 涨了 22 分，</a:t>
            </a:r>
            <a:r>
              <a:rPr sz="5600" b="1">
                <a:solidFill>
                  <a:srgbClr val="C0392B"/>
                </a:solidFill>
                <a:latin typeface="Noto Serif SC"/>
              </a:rPr>
              <a:t>CPT</a:t>
            </a:r>
            <a:r>
              <a:rPr sz="5600" b="1">
                <a:solidFill>
                  <a:srgbClr val="14263B"/>
                </a:solidFill>
                <a:latin typeface="Noto Serif SC"/>
              </a:rPr>
              <a:t> 没有增益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78638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>
                <a:solidFill>
                  <a:srgbClr val="3D4E63"/>
                </a:solidFill>
                <a:latin typeface="Noto Sans SC"/>
              </a:rPr>
              <a:t>医学视觉语言模型的参数高效增量预训练与指令微调。两周，四组实验，三张固定的评估表，每一个数字都能在仓库里复现。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91440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8C8577"/>
                </a:solidFill>
                <a:latin typeface="Consolas"/>
              </a:rPr>
              <a:t>Qwen2.5-VL-3B-Instruct · QLoRA r16 · Kaggle T4 · results as of 2026-09-16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292608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400" b="1">
                <a:solidFill>
                  <a:srgbClr val="C25E28"/>
                </a:solidFill>
                <a:latin typeface="Consolas"/>
              </a:rPr>
              <a:t>89.2</a:t>
            </a:r>
            <a:r>
              <a:rPr sz="1300" b="0">
                <a:solidFill>
                  <a:srgbClr val="8C8577"/>
                </a:solidFill>
                <a:latin typeface="Consolas"/>
              </a:rPr>
              <a:t>  ← 67.3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257800"/>
            <a:ext cx="1188720" cy="54864"/>
          </a:xfrm>
          <a:prstGeom prst="rect">
            <a:avLst/>
          </a:prstGeom>
          <a:solidFill>
            <a:srgbClr val="C25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76672"/>
            <a:ext cx="27432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3D4E63"/>
                </a:solidFill>
                <a:latin typeface="Noto Sans SC"/>
              </a:rPr>
              <a:t>SLAKE closed accuracy，SFT 之后（实验 A）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4572000"/>
            <a:ext cx="292608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400" b="1">
                <a:solidFill>
                  <a:srgbClr val="C25E28"/>
                </a:solidFill>
                <a:latin typeface="Consolas"/>
              </a:rPr>
              <a:t>82.2</a:t>
            </a:r>
            <a:r>
              <a:rPr sz="1300" b="0">
                <a:solidFill>
                  <a:srgbClr val="8C8577"/>
                </a:solidFill>
                <a:latin typeface="Consolas"/>
              </a:rPr>
              <a:t>  ← 46.7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5257800"/>
            <a:ext cx="1188720" cy="54864"/>
          </a:xfrm>
          <a:prstGeom prst="rect">
            <a:avLst/>
          </a:prstGeom>
          <a:solidFill>
            <a:srgbClr val="C25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5376672"/>
            <a:ext cx="27432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3D4E63"/>
                </a:solidFill>
                <a:latin typeface="Noto Sans SC"/>
              </a:rPr>
              <a:t>SLAKE open recall，同一个 adapter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4572000"/>
            <a:ext cx="292608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400" b="1">
                <a:solidFill>
                  <a:srgbClr val="14263B"/>
                </a:solidFill>
                <a:latin typeface="Consolas"/>
              </a:rPr>
              <a:t>83.9</a:t>
            </a:r>
            <a:r>
              <a:rPr sz="1300" b="0">
                <a:solidFill>
                  <a:srgbClr val="8C8577"/>
                </a:solidFill>
                <a:latin typeface="Consolas"/>
              </a:rPr>
              <a:t>  = 83.9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5257800"/>
            <a:ext cx="1188720" cy="54864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5376672"/>
            <a:ext cx="27432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3D4E63"/>
                </a:solidFill>
                <a:latin typeface="Noto Sans SC"/>
              </a:rPr>
              <a:t>TextVQA，通用能力没有可测的退化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github.com/AugustLoo/MedLoRA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7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01 · 课题与流程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14263B"/>
                </a:solidFill>
                <a:latin typeface="Noto Serif SC"/>
              </a:rPr>
              <a:t>三个阶段，一套评估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603504" cy="45720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070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3D4E63"/>
                </a:solidFill>
                <a:latin typeface="Noto Sans SC"/>
              </a:rPr>
              <a:t>课题任务 1.3：对一个 2B 到 7B 的开源视觉语言模型做增量预训练、LoRA 指令微调和对齐。基座 </a:t>
            </a:r>
            <a:r>
              <a:rPr sz="1400" b="0">
                <a:solidFill>
                  <a:srgbClr val="3D4E63"/>
                </a:solidFill>
                <a:latin typeface="Consolas"/>
              </a:rPr>
              <a:t>Qwen2.5-VL-3B-Instruct</a:t>
            </a:r>
            <a:r>
              <a:rPr sz="1400" b="0">
                <a:solidFill>
                  <a:srgbClr val="3D4E63"/>
                </a:solidFill>
                <a:latin typeface="Noto Sans SC"/>
              </a:rPr>
              <a:t>，框架 </a:t>
            </a:r>
            <a:r>
              <a:rPr sz="1400" b="0">
                <a:solidFill>
                  <a:srgbClr val="3D4E63"/>
                </a:solidFill>
                <a:latin typeface="Consolas"/>
              </a:rPr>
              <a:t>LLaMA-Factory</a:t>
            </a:r>
            <a:r>
              <a:rPr sz="1400" b="0">
                <a:solidFill>
                  <a:srgbClr val="3D4E63"/>
                </a:solidFill>
                <a:latin typeface="Noto Sans SC"/>
              </a:rPr>
              <a:t>，全部在 Kaggle 的 T4 上跑。每个阶段产出一个 LoRA adapter，后一阶段接着前一阶段继续训练；视觉塔全程冻结，所以每一处变化都能归因到语言模型一侧。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2852928"/>
            <a:ext cx="2514600" cy="292608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788920"/>
            <a:ext cx="2514600" cy="292608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971800"/>
            <a:ext cx="1417320" cy="256032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417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FDFAF2"/>
                </a:solidFill>
                <a:latin typeface="Consolas"/>
              </a:rPr>
              <a:t>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19272"/>
            <a:ext cx="214884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1">
                <a:solidFill>
                  <a:srgbClr val="14263B"/>
                </a:solidFill>
                <a:latin typeface="Noto Serif SC"/>
              </a:rPr>
              <a:t>基座模型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49040"/>
            <a:ext cx="214884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3D4E63"/>
                </a:solidFill>
                <a:latin typeface="Noto Sans SC"/>
              </a:rPr>
              <a:t>出厂状态的 3B 模型，直接做题，作为起点。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21488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8C8577"/>
                </a:solidFill>
                <a:latin typeface="Consolas"/>
              </a:rPr>
              <a:t>Qwen2.5-VL-3B-Instruct
4-bit NF4 · vision tower frozen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3008" y="2852928"/>
            <a:ext cx="2514600" cy="292608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2788920"/>
            <a:ext cx="2514600" cy="292608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11880" y="2971800"/>
            <a:ext cx="1417320" cy="256032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2971800"/>
            <a:ext cx="1417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FDFAF2"/>
                </a:solidFill>
                <a:latin typeface="Consolas"/>
              </a:rPr>
              <a:t>STAGE 1 · CPT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319272"/>
            <a:ext cx="214884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1">
                <a:solidFill>
                  <a:srgbClr val="14263B"/>
                </a:solidFill>
                <a:latin typeface="Noto Serif SC"/>
              </a:rPr>
              <a:t>持续预训练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749040"/>
            <a:ext cx="214884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3D4E63"/>
                </a:solidFill>
                <a:latin typeface="Noto Sans SC"/>
              </a:rPr>
              <a:t>让模型自己读材料，没有题目也没有答案，只学下一个词是什么。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4754880"/>
            <a:ext cx="21488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8C8577"/>
                </a:solidFill>
                <a:latin typeface="Consolas"/>
              </a:rPr>
              <a:t>B1: 10k PubMed abstracts (text)
B2: 3.5k IU X-Ray image → report
LoRA r16 · lr 5e-5 · 1 epoch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0488" y="2852928"/>
            <a:ext cx="2514600" cy="292608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2788920"/>
            <a:ext cx="2514600" cy="292608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971800"/>
            <a:ext cx="1417320" cy="256032"/>
          </a:xfrm>
          <a:prstGeom prst="rect">
            <a:avLst/>
          </a:prstGeom>
          <a:solidFill>
            <a:srgbClr val="C25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971800"/>
            <a:ext cx="1417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FDFAF2"/>
                </a:solidFill>
                <a:latin typeface="Consolas"/>
              </a:rPr>
              <a:t>STAGE 2 · SFT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319272"/>
            <a:ext cx="214884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1">
                <a:solidFill>
                  <a:srgbClr val="14263B"/>
                </a:solidFill>
                <a:latin typeface="Noto Serif SC"/>
              </a:rPr>
              <a:t>指令微调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749040"/>
            <a:ext cx="214884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3D4E63"/>
                </a:solidFill>
                <a:latin typeface="Noto Sans SC"/>
              </a:rPr>
              <a:t>做题对答案：一张图、一个问题、一个标准答案，答错就往标准答案改。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754880"/>
            <a:ext cx="21488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8C8577"/>
                </a:solidFill>
                <a:latin typeface="Consolas"/>
              </a:rPr>
              <a:t>SLAKE train 4,919 QA
same prompts as eval
LoRA r16 · lr 1e-4 · 3 epochs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23960" y="2788920"/>
            <a:ext cx="2514600" cy="292608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6840" y="2971800"/>
            <a:ext cx="1417320" cy="256032"/>
          </a:xfrm>
          <a:prstGeom prst="rect">
            <a:avLst/>
          </a:prstGeom>
          <a:solidFill>
            <a:srgbClr val="8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2971800"/>
            <a:ext cx="1417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FDFAF2"/>
                </a:solidFill>
                <a:latin typeface="Consolas"/>
              </a:rPr>
              <a:t>STAGE 3 · ALIGNMENT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319272"/>
            <a:ext cx="214884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1">
                <a:solidFill>
                  <a:srgbClr val="14263B"/>
                </a:solidFill>
                <a:latin typeface="Noto Serif SC"/>
              </a:rPr>
              <a:t>对齐（计划中）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3749040"/>
            <a:ext cx="214884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3D4E63"/>
                </a:solidFill>
                <a:latin typeface="Noto Sans SC"/>
              </a:rPr>
              <a:t>纠正回答习惯：该说「不确定」时不要硬答「是」。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4754880"/>
            <a:ext cx="21488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8C8577"/>
                </a:solidFill>
                <a:latin typeface="Consolas"/>
              </a:rPr>
              <a:t>yes / no / maybe calibration
label-rebalanced SFT, then DPO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43600"/>
            <a:ext cx="10607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8C8577"/>
                </a:solidFill>
                <a:latin typeface="Noto Sans SC"/>
              </a:rPr>
              <a:t>每个阶段都用同一套三张表评估：</a:t>
            </a:r>
            <a:r>
              <a:rPr sz="1150" b="0">
                <a:solidFill>
                  <a:srgbClr val="3D4E63"/>
                </a:solidFill>
                <a:latin typeface="Consolas"/>
              </a:rPr>
              <a:t>SLAKE test · TextVQA-300 · PubMedQA labeled</a:t>
            </a:r>
            <a:r>
              <a:rPr sz="1150" b="0">
                <a:solidFill>
                  <a:srgbClr val="8C8577"/>
                </a:solidFill>
                <a:latin typeface="Noto Sans SC"/>
              </a:rPr>
              <a:t>。实验 A 跳过 Stage 1，B1 与 B2 只在 Stage 1 的语料上不同。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TOPIC 6 · 第 1 周进展汇报 · 2026-09-17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02 · 怎么评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14263B"/>
                </a:solidFill>
                <a:latin typeface="Noto Serif SC"/>
              </a:rPr>
              <a:t>三张表，固定不动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603504" cy="45720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0704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3D4E63"/>
                </a:solidFill>
                <a:latin typeface="Noto Sans SC"/>
              </a:rPr>
              <a:t>提示词只写一次，训练数据生成和评估用同一套；解码用贪心，最多 32 个词，图片上限 512 像素。这样每一轮的分数才能直接相减。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2670048"/>
            <a:ext cx="10698480" cy="301752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606040"/>
            <a:ext cx="10698480" cy="301752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06040"/>
            <a:ext cx="10698480" cy="411480"/>
          </a:xfrm>
          <a:prstGeom prst="rect">
            <a:avLst/>
          </a:prstGeom>
          <a:solidFill>
            <a:srgbClr val="EFE7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999232"/>
            <a:ext cx="10698480" cy="18288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118872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3D4E63"/>
                </a:solidFill>
                <a:latin typeface="Consolas"/>
              </a:rPr>
              <a:t>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606040"/>
            <a:ext cx="301752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3D4E63"/>
                </a:solidFill>
                <a:latin typeface="Consolas"/>
              </a:rPr>
              <a:t>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606040"/>
            <a:ext cx="265176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3D4E63"/>
                </a:solidFill>
                <a:latin typeface="Consolas"/>
              </a:rPr>
              <a:t>回答的问题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606040"/>
            <a:ext cx="274320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3D4E63"/>
                </a:solidFill>
                <a:latin typeface="Consolas"/>
              </a:rPr>
              <a:t>指标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879850"/>
            <a:ext cx="1069848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90672"/>
            <a:ext cx="118872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14263B"/>
                </a:solidFill>
                <a:latin typeface="Noto Sans SC"/>
              </a:rPr>
              <a:t>医学能力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090672"/>
            <a:ext cx="301752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3D4E63"/>
                </a:solidFill>
                <a:latin typeface="Consolas"/>
              </a:rPr>
              <a:t>SLAKE test · 1,061 questions
(416 closed / 645 open)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090672"/>
            <a:ext cx="265176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14263B"/>
                </a:solidFill>
                <a:latin typeface="Noto Sans SC"/>
              </a:rPr>
              <a:t>医学看图问答涨了多少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090672"/>
            <a:ext cx="274320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3D4E63"/>
                </a:solidFill>
                <a:latin typeface="Consolas"/>
              </a:rPr>
              <a:t>closed acc · open EM / recall / F1
by modality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748530"/>
            <a:ext cx="1069848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59352"/>
            <a:ext cx="118872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14263B"/>
                </a:solidFill>
                <a:latin typeface="Noto Sans SC"/>
              </a:rPr>
              <a:t>通用保持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959352"/>
            <a:ext cx="301752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3D4E63"/>
                </a:solidFill>
                <a:latin typeface="Consolas"/>
              </a:rPr>
              <a:t>TextVQA validation
fixed 300, seed 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3959352"/>
            <a:ext cx="265176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14263B"/>
                </a:solidFill>
                <a:latin typeface="Noto Sans SC"/>
              </a:rPr>
              <a:t>学了医学之后，通用能力掉了多少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959352"/>
            <a:ext cx="274320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3D4E63"/>
                </a:solidFill>
                <a:latin typeface="Consolas"/>
              </a:rPr>
              <a:t>VQA 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28032"/>
            <a:ext cx="118872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14263B"/>
                </a:solidFill>
                <a:latin typeface="Noto Sans SC"/>
              </a:rPr>
              <a:t>可靠性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828032"/>
            <a:ext cx="301752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3D4E63"/>
                </a:solidFill>
                <a:latin typeface="Consolas"/>
              </a:rPr>
              <a:t>PubMedQA pqa_labeled · 1,000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4828032"/>
            <a:ext cx="265176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14263B"/>
                </a:solidFill>
                <a:latin typeface="Noto Sans SC"/>
              </a:rPr>
              <a:t>证据不够时敢不敢说 maybe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4828032"/>
            <a:ext cx="274320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3D4E63"/>
                </a:solidFill>
                <a:latin typeface="Consolas"/>
              </a:rPr>
              <a:t>accuracy · macro-F1
yes / no / maybe distribution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52160"/>
            <a:ext cx="106070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8C8577"/>
                </a:solidFill>
                <a:latin typeface="Noto Sans SC"/>
              </a:rPr>
              <a:t>红线：</a:t>
            </a:r>
            <a:r>
              <a:rPr sz="1150" b="0">
                <a:solidFill>
                  <a:srgbClr val="3D4E63"/>
                </a:solidFill>
                <a:latin typeface="Consolas"/>
              </a:rPr>
              <a:t>SLAKE test</a:t>
            </a:r>
            <a:r>
              <a:rPr sz="1150" b="0">
                <a:solidFill>
                  <a:srgbClr val="8C8577"/>
                </a:solidFill>
                <a:latin typeface="Noto Sans SC"/>
              </a:rPr>
              <a:t> 与 </a:t>
            </a:r>
            <a:r>
              <a:rPr sz="1150" b="0">
                <a:solidFill>
                  <a:srgbClr val="3D4E63"/>
                </a:solidFill>
                <a:latin typeface="Consolas"/>
              </a:rPr>
              <a:t>PubMedQA labeled</a:t>
            </a:r>
            <a:r>
              <a:rPr sz="1150" b="0">
                <a:solidFill>
                  <a:srgbClr val="8C8577"/>
                </a:solidFill>
                <a:latin typeface="Noto Sans SC"/>
              </a:rPr>
              <a:t> 只评估、永不训练；切分文件固定入库；受控数据不进 git。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TOPIC 6 · 第 1 周进展汇报 · 2026-09-17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7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03 · 主结果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4263B"/>
                </a:solidFill>
                <a:latin typeface="Noto Serif SC"/>
              </a:rPr>
              <a:t>起点，以及只做 SFT 涨了多少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603504" cy="45720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i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057400"/>
            <a:ext cx="6949440" cy="369527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5528" y="2011680"/>
            <a:ext cx="7168896" cy="3914732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47672"/>
            <a:ext cx="7168896" cy="3914732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i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057400"/>
            <a:ext cx="6949440" cy="36952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47887" y="1847088"/>
            <a:ext cx="3429000" cy="1399032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1783080"/>
            <a:ext cx="3429000" cy="1399032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1892808"/>
            <a:ext cx="310896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8C8577"/>
                </a:solidFill>
                <a:latin typeface="Consolas"/>
              </a:rPr>
              <a:t>01 /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9" y="2093976"/>
            <a:ext cx="3108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4263B"/>
                </a:solidFill>
                <a:latin typeface="Noto Serif SC"/>
              </a:rPr>
              <a:t>起点：基座直接做题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2404872"/>
            <a:ext cx="3108960" cy="7589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D4E63"/>
                </a:solidFill>
                <a:latin typeface="Noto Sans SC"/>
              </a:rPr>
              <a:t>SLAKE 封闭题 67.3，开放题 recall 46.7。X 光片最好、MRI 最差，说明基座见过的胸片远多于 MRI。PubMedQA 明显偏 yes。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7887" y="3410712"/>
            <a:ext cx="3429000" cy="1399032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3346704"/>
            <a:ext cx="3429000" cy="1399032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3456432"/>
            <a:ext cx="310896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8C8577"/>
                </a:solidFill>
                <a:latin typeface="Consolas"/>
              </a:rPr>
              <a:t>02 / 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3657600"/>
            <a:ext cx="3108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4263B"/>
                </a:solidFill>
                <a:latin typeface="Noto Serif SC"/>
              </a:rPr>
              <a:t>A：只做 SFT，涨 22 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3968496"/>
            <a:ext cx="3108960" cy="7589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D4E63"/>
                </a:solidFill>
                <a:latin typeface="Noto Sans SC"/>
              </a:rPr>
              <a:t>4,919 道 SLAKE 题做三遍，4 小时 28 分。封闭题 67.3 → 89.2，开放题 recall 46.7 → 82.2。逐题看，修正 345 题，新错 30 题。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TOPIC 6 · 第 1 周进展汇报 · 2026-09-17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7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03 · 主结果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4263B"/>
                </a:solidFill>
                <a:latin typeface="Noto Serif SC"/>
              </a:rPr>
              <a:t>加上 CPT 之后，曲线没有再往上走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603504" cy="45720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in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057400"/>
            <a:ext cx="6949440" cy="369527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5528" y="2011680"/>
            <a:ext cx="7168896" cy="3914732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47672"/>
            <a:ext cx="7168896" cy="3914732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in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057400"/>
            <a:ext cx="6949440" cy="36952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47887" y="1847088"/>
            <a:ext cx="3429000" cy="1399032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1783080"/>
            <a:ext cx="3429000" cy="1399032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1892808"/>
            <a:ext cx="310896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8C8577"/>
                </a:solidFill>
                <a:latin typeface="Consolas"/>
              </a:rPr>
              <a:t>03 /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9" y="2093976"/>
            <a:ext cx="3108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4263B"/>
                </a:solidFill>
                <a:latin typeface="Noto Serif SC"/>
              </a:rPr>
              <a:t>B1：先读一万篇医学摘要，再 SFT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2404872"/>
            <a:ext cx="3108960" cy="7589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D4E63"/>
                </a:solidFill>
                <a:latin typeface="Noto Sans SC"/>
              </a:rPr>
              <a:t>SLAKE 与 A 的差异全部在 ±0.6 以内，逐题互换 15 对 14，是随机波动。文本 CPT 没有跨过模态，只帮到了自己的领域：PubMedQA 70.6 → 72.8。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7887" y="3410712"/>
            <a:ext cx="3429000" cy="1179576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3346704"/>
            <a:ext cx="3429000" cy="1179576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3456432"/>
            <a:ext cx="310896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8C8577"/>
                </a:solidFill>
                <a:latin typeface="Consolas"/>
              </a:rPr>
              <a:t>04 / 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3657600"/>
            <a:ext cx="3108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4263B"/>
                </a:solidFill>
                <a:latin typeface="Noto Serif SC"/>
              </a:rPr>
              <a:t>B2：先看三千多张胸片配报告，再 SFT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3968496"/>
            <a:ext cx="3108960" cy="5394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D4E63"/>
                </a:solidFill>
                <a:latin typeface="Noto Sans SC"/>
              </a:rPr>
              <a:t>封闭题 88.7 与 B1 持平，开放题略低 −0.6，逐题修正 11 题、新错 18 题。图文 CPT 同样没有增益。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47887" y="4754880"/>
            <a:ext cx="3429000" cy="1399032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4690872"/>
            <a:ext cx="3429000" cy="1399032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4800600"/>
            <a:ext cx="310896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8C8577"/>
                </a:solidFill>
                <a:latin typeface="Consolas"/>
              </a:rPr>
              <a:t>05 / 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5001768"/>
            <a:ext cx="3108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4263B"/>
                </a:solidFill>
                <a:latin typeface="Noto Serif SC"/>
              </a:rPr>
              <a:t>通用能力：一分没掉，但探针太钝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5312664"/>
            <a:ext cx="3108960" cy="7589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D4E63"/>
                </a:solidFill>
                <a:latin typeface="Noto Sans SC"/>
              </a:rPr>
              <a:t>TextVQA 四个模型都是 84 上下，300 题里 81 题只差大小写。短答题和 SFT 输出格式太像，测不出退化，实验 C 之前要换基准。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TOPIC 6 · 第 1 周进展汇报 · 2026-09-17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04 · 拆开看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4263B"/>
                </a:solidFill>
                <a:latin typeface="Noto Serif SC"/>
              </a:rPr>
              <a:t>涨的是词表对齐，没涨的是真识别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603504" cy="45720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y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28800"/>
            <a:ext cx="6812280" cy="40382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5528" y="1783080"/>
            <a:ext cx="7031736" cy="425768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19072"/>
            <a:ext cx="7031736" cy="425768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y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28800"/>
            <a:ext cx="6812280" cy="403822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47887" y="1801368"/>
            <a:ext cx="3520440" cy="137160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1737360"/>
            <a:ext cx="3520440" cy="137160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1847088"/>
            <a:ext cx="32004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8C8577"/>
                </a:solidFill>
                <a:latin typeface="Consolas"/>
              </a:rPr>
              <a:t>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9" y="2048256"/>
            <a:ext cx="3200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4263B"/>
                </a:solidFill>
                <a:latin typeface="Noto Serif SC"/>
              </a:rPr>
              <a:t>基座会看，但不会答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2359152"/>
            <a:ext cx="32004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D4E63"/>
                </a:solidFill>
                <a:latin typeface="Noto Sans SC"/>
              </a:rPr>
              <a:t>器官、知识图谱、颜色、平面这些题型，基座只有 22 到 40 分。不是看不懂，是答法不对。SFT 把它们一口气拉到 85 到 100，这是词表和格式的对齐。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7887" y="3337560"/>
            <a:ext cx="3520440" cy="137160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3273552"/>
            <a:ext cx="3520440" cy="137160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3383280"/>
            <a:ext cx="32004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8C8577"/>
                </a:solidFill>
                <a:latin typeface="Consolas"/>
              </a:rPr>
              <a:t>02 /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3584448"/>
            <a:ext cx="3200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4263B"/>
                </a:solidFill>
                <a:latin typeface="Noto Serif SC"/>
              </a:rPr>
              <a:t>真正的识别题只到四成和六成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3895344"/>
            <a:ext cx="32004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D4E63"/>
                </a:solidFill>
                <a:latin typeface="Noto Sans SC"/>
              </a:rPr>
              <a:t>Abnormality open 41.5，Position open 57.7。剩余错例是左右、上下弄反和病灶类别混淆，是后面要攻的地方。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47887" y="4873752"/>
            <a:ext cx="3520440" cy="137160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4809744"/>
            <a:ext cx="3520440" cy="137160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4919472"/>
            <a:ext cx="32004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8C8577"/>
                </a:solidFill>
                <a:latin typeface="Consolas"/>
              </a:rPr>
              <a:t>03 /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5120640"/>
            <a:ext cx="3200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4263B"/>
                </a:solidFill>
                <a:latin typeface="Noto Serif SC"/>
              </a:rPr>
              <a:t>B2 在病灶题上反而掉了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5431536"/>
            <a:ext cx="32004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D4E63"/>
                </a:solidFill>
                <a:latin typeface="Noto Sans SC"/>
              </a:rPr>
              <a:t>Abnormality open 41.5 → 31.7，41 题少对 4 题，是四组实验里唯一超出噪声的下降。其余题型 B1、B2 都贴着 A。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TOPIC 6 · 第 1 周进展汇报 · 2026-09-17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7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05 · 看几道题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4263B"/>
                </a:solidFill>
                <a:latin typeface="Noto Serif SC"/>
              </a:rPr>
              <a:t>基座答错、微调后全对的三道题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603504" cy="45720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070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3D4E63"/>
                </a:solidFill>
                <a:latin typeface="Noto Sans SC"/>
              </a:rPr>
              <a:t>三道 CT 题，分别是病灶、位置、器官。基座的错各有各的样子，三个微调模型给出完全相同的正确答案。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2304288"/>
            <a:ext cx="3383280" cy="393192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3383280" cy="393192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xmlab1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3160"/>
            <a:ext cx="1737360" cy="1737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4206240"/>
            <a:ext cx="301752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00" b="0">
                <a:solidFill>
                  <a:srgbClr val="8C8577"/>
                </a:solidFill>
                <a:latin typeface="Consolas"/>
              </a:rPr>
              <a:t>CT · ABNORMALITY · 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34840"/>
            <a:ext cx="301752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4263B"/>
                </a:solidFill>
                <a:latin typeface="Noto Sans SC"/>
              </a:rPr>
              <a:t>What diseases are included in the picture?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965192"/>
            <a:ext cx="301752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992624"/>
            <a:ext cx="11887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Gold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992624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14263B"/>
                </a:solidFill>
                <a:latin typeface="Consolas"/>
              </a:rPr>
              <a:t>Lung Cancer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349240"/>
            <a:ext cx="301752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76672"/>
            <a:ext cx="11887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5376672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C0392B"/>
                </a:solidFill>
                <a:latin typeface="Consolas"/>
              </a:rPr>
              <a:t>Pneumonia 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733288"/>
            <a:ext cx="301752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760720"/>
            <a:ext cx="11887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A / B1 / B2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760720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1F8A70"/>
                </a:solidFill>
                <a:latin typeface="Consolas"/>
              </a:rPr>
              <a:t>Lung Cancer 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8" y="2304288"/>
            <a:ext cx="3383280" cy="393192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2240280"/>
            <a:ext cx="3383280" cy="393192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xmlab1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423160"/>
            <a:ext cx="1737360" cy="17373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26280" y="4206240"/>
            <a:ext cx="301752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00" b="0">
                <a:solidFill>
                  <a:srgbClr val="8C8577"/>
                </a:solidFill>
                <a:latin typeface="Consolas"/>
              </a:rPr>
              <a:t>CT · POSITION · OPEN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434840"/>
            <a:ext cx="301752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4263B"/>
                </a:solidFill>
                <a:latin typeface="Noto Sans SC"/>
              </a:rPr>
              <a:t>Where is/are the abnormality located?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4965192"/>
            <a:ext cx="301752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4992624"/>
            <a:ext cx="11887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Gold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4992624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14263B"/>
                </a:solidFill>
                <a:latin typeface="Consolas"/>
              </a:rPr>
              <a:t>Left Lung, Right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5349240"/>
            <a:ext cx="301752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5376672"/>
            <a:ext cx="11887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5376672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C0392B"/>
                </a:solidFill>
                <a:latin typeface="Consolas"/>
              </a:rPr>
              <a:t>Right lung 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5733288"/>
            <a:ext cx="301752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5760720"/>
            <a:ext cx="11887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A / B1 / B2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23560" y="5760720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1F8A70"/>
                </a:solidFill>
                <a:latin typeface="Consolas"/>
              </a:rPr>
              <a:t>Left Lung, Right 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19288" y="2304288"/>
            <a:ext cx="3383280" cy="393192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55280" y="2240280"/>
            <a:ext cx="3383280" cy="393192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xmlab1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423160"/>
            <a:ext cx="1737360" cy="17373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138160" y="4206240"/>
            <a:ext cx="301752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00" b="0">
                <a:solidFill>
                  <a:srgbClr val="8C8577"/>
                </a:solidFill>
                <a:latin typeface="Consolas"/>
              </a:rPr>
              <a:t>CT · ORGAN · CLOSED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434840"/>
            <a:ext cx="301752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4263B"/>
                </a:solidFill>
                <a:latin typeface="Noto Sans SC"/>
              </a:rPr>
              <a:t>Does the picture contain heart?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4965192"/>
            <a:ext cx="301752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4992624"/>
            <a:ext cx="11887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Gold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4992624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14263B"/>
                </a:solidFill>
                <a:latin typeface="Consolas"/>
              </a:rPr>
              <a:t>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5349240"/>
            <a:ext cx="301752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5376672"/>
            <a:ext cx="11887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Base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5376672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C0392B"/>
                </a:solidFill>
                <a:latin typeface="Consolas"/>
              </a:rPr>
              <a:t>Yes. 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38160" y="5733288"/>
            <a:ext cx="301752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60" y="5760720"/>
            <a:ext cx="11887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A / B1 / B2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5760720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1F8A70"/>
                </a:solidFill>
                <a:latin typeface="Consolas"/>
              </a:rPr>
              <a:t>No 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6254496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SLAKE test, qid 11941 / 11953 / 11961 · images CC BY 4.0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TOPIC 6 · 第 1 周进展汇报 · 2026-09-17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06 · CPT 到底学到了什么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4263B"/>
                </a:solidFill>
                <a:latin typeface="Noto Serif SC"/>
              </a:rPr>
              <a:t>学会了报告怎么写，没学会片子怎么看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603504" cy="45720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493776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50" b="0">
                <a:solidFill>
                  <a:srgbClr val="3D4E63"/>
                </a:solidFill>
                <a:latin typeface="Noto Sans SC"/>
              </a:rPr>
              <a:t>B2 的 CPT 阶段结束后，先不做 SFT，直接让它给三张没见过的胸片写报告。写出来的东西很像放射科报告，但两张有异常的片子都被写成了正常。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50" b="1">
                <a:solidFill>
                  <a:srgbClr val="14263B"/>
                </a:solidFill>
                <a:latin typeface="Noto Sans SC"/>
              </a:rPr>
              <a:t>眼睛没有参与学习</a:t>
            </a:r>
            <a:r>
              <a:rPr sz="1250" b="0">
                <a:solidFill>
                  <a:srgbClr val="3D4E63"/>
                </a:solidFill>
                <a:latin typeface="Noto Sans SC"/>
              </a:rPr>
              <a:t>：视觉塔是冻结的，三千张胸片交给大脑的特征和训练前一模一样，大脑只学到了「拿到这种特征之后通常写什么话」。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50" b="1">
                <a:solidFill>
                  <a:srgbClr val="14263B"/>
                </a:solidFill>
                <a:latin typeface="Noto Sans SC"/>
              </a:rPr>
              <a:t>材料本身有偏</a:t>
            </a:r>
            <a:r>
              <a:rPr sz="1250" b="0">
                <a:solidFill>
                  <a:srgbClr val="3D4E63"/>
                </a:solidFill>
                <a:latin typeface="Noto Sans SC"/>
              </a:rPr>
              <a:t>：IU X-Ray 训练集 36% 是正常报告，异常报告也大多用「no effusion」这种否定句写，caption 式损失奖励的是高频模板。CPT 损失 2.17 → 1.06，目标学会了，学会的是模板。这个「一切正常」的先验带进 SFT，就是病灶题掉 4 题的来源。</a:t>
            </a:r>
          </a:p>
        </p:txBody>
      </p:sp>
      <p:pic>
        <p:nvPicPr>
          <p:cNvPr id="6" name="Picture 5" descr="1015_IM-0001-1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83080"/>
            <a:ext cx="2834640" cy="2834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89320" y="1737360"/>
            <a:ext cx="2514600" cy="3054096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5312" y="1673352"/>
            <a:ext cx="2514600" cy="3054096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015_IM-0001-1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83080"/>
            <a:ext cx="2834640" cy="2834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0" y="4800600"/>
            <a:ext cx="25603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00" b="0">
                <a:solidFill>
                  <a:srgbClr val="8C8577"/>
                </a:solidFill>
                <a:latin typeface="Consolas"/>
              </a:rPr>
              <a:t>IU X-Ray held-out · 1015_IM-0001-1001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96528" y="1737360"/>
            <a:ext cx="2926080" cy="260604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32520" y="1673352"/>
            <a:ext cx="2926080" cy="260604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1764792"/>
            <a:ext cx="265176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00" b="0">
                <a:solidFill>
                  <a:srgbClr val="8C8577"/>
                </a:solidFill>
                <a:latin typeface="Consolas"/>
              </a:rPr>
              <a:t>REFERENCE REPORT (RADIOLOGIST)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993392"/>
            <a:ext cx="2651760" cy="2286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14263B"/>
                </a:solidFill>
                <a:latin typeface="Consolas"/>
              </a:rPr>
              <a:t>Findings: </a:t>
            </a:r>
            <a:r>
              <a:rPr sz="900" b="1">
                <a:solidFill>
                  <a:srgbClr val="1F8A70"/>
                </a:solidFill>
                <a:latin typeface="Consolas"/>
              </a:rPr>
              <a:t>Streaky and patchy bibasilar opacities</a:t>
            </a:r>
            <a:r>
              <a:rPr sz="900" b="0">
                <a:solidFill>
                  <a:srgbClr val="14263B"/>
                </a:solidFill>
                <a:latin typeface="Consolas"/>
              </a:rPr>
              <a:t>, triangular density projected over the heart on the lateral view. No definite pleural effusion seen, no typical findings of pulmonary edema. Impression: </a:t>
            </a:r>
            <a:r>
              <a:rPr sz="900" b="1">
                <a:solidFill>
                  <a:srgbClr val="1F8A70"/>
                </a:solidFill>
                <a:latin typeface="Consolas"/>
              </a:rPr>
              <a:t>Bibasilar opacities, right greater than left, consolidation and atelectasis</a:t>
            </a:r>
            <a:r>
              <a:rPr sz="900" b="0">
                <a:solidFill>
                  <a:srgbClr val="14263B"/>
                </a:solidFill>
                <a:latin typeface="Consolas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96528" y="4498848"/>
            <a:ext cx="2926080" cy="160020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32520" y="4434840"/>
            <a:ext cx="2926080" cy="160020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4526280"/>
            <a:ext cx="265176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00" b="0">
                <a:solidFill>
                  <a:srgbClr val="8C8577"/>
                </a:solidFill>
                <a:latin typeface="Consolas"/>
              </a:rPr>
              <a:t>GENERATED BY B2 CPT ADAPTER, BEFORE SFT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4754880"/>
            <a:ext cx="2651760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3D4E63"/>
                </a:solidFill>
                <a:latin typeface="Consolas"/>
              </a:rPr>
              <a:t>Findings: </a:t>
            </a:r>
            <a:r>
              <a:rPr sz="900" b="1">
                <a:solidFill>
                  <a:srgbClr val="C0392B"/>
                </a:solidFill>
                <a:latin typeface="Consolas"/>
              </a:rPr>
              <a:t>The heart and lungs are grossly unremarkable.</a:t>
            </a:r>
            <a:r>
              <a:rPr sz="900" b="0">
                <a:solidFill>
                  <a:srgbClr val="3D4E63"/>
                </a:solidFill>
                <a:latin typeface="Consolas"/>
              </a:rPr>
              <a:t> No pleural effusion or pneumothorax. Impression: </a:t>
            </a:r>
            <a:r>
              <a:rPr sz="900" b="1">
                <a:solidFill>
                  <a:srgbClr val="C0392B"/>
                </a:solidFill>
                <a:latin typeface="Consolas"/>
              </a:rPr>
              <a:t>No acute cardiopulmonary abnormality.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TOPIC 6 · 第 1 周进展汇报 · 2026-09-17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7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07 · 可靠性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4263B"/>
                </a:solidFill>
                <a:latin typeface="Noto Serif SC"/>
              </a:rPr>
              <a:t>越训越不敢说「不确定」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603504" cy="45720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4206240" cy="4389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50" b="0">
                <a:solidFill>
                  <a:srgbClr val="3D4E63"/>
                </a:solidFill>
                <a:latin typeface="Noto Sans SC"/>
              </a:rPr>
              <a:t>PubMedQA 一千题里真实答案有 110 个 maybe。基座答了 158 个，A 只剩 59，B1 剩 44。准确率在涨，是因为短答题训练把犹豫训掉了，不是因为判断变准了。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50" b="0">
                <a:solidFill>
                  <a:srgbClr val="3D4E63"/>
                </a:solidFill>
                <a:latin typeface="Noto Sans SC"/>
              </a:rPr>
              <a:t>该答 no 却答成 yes 的题：基座 85、A 106、B1 92、B2 99，四轮没有一轮改善；该答 maybe 的 110 题，基座答对 17 题，三个微调模型都只答对 8 到 9 题。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50" b="0">
                <a:solidFill>
                  <a:srgbClr val="3D4E63"/>
                </a:solidFill>
                <a:latin typeface="Noto Sans SC"/>
              </a:rPr>
              <a:t>这是第三阶段「对齐」要打的靶子：先试成本最低的按标签重新平衡的 SFT，不行再上 DPO。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50" b="1">
                <a:solidFill>
                  <a:srgbClr val="14263B"/>
                </a:solidFill>
                <a:latin typeface="Noto Sans SC"/>
              </a:rPr>
              <a:t>偏置是 SFT 带进来的，不是 CPT。</a:t>
            </a:r>
            <a:r>
              <a:rPr sz="1250" b="0">
                <a:solidFill>
                  <a:srgbClr val="3D4E63"/>
                </a:solidFill>
                <a:latin typeface="Noto Sans SC"/>
              </a:rPr>
              <a:t>只做 CPT 不做 SFT 的 B2 adapter 答 yes / no / maybe 598 / 288 / 114，五个模型里最接近真实分布；一做短答式 SFT，maybe 就塌下去。对齐要改的是 SFT 的数据配比。</a:t>
            </a:r>
          </a:p>
        </p:txBody>
      </p:sp>
      <p:pic>
        <p:nvPicPr>
          <p:cNvPr id="6" name="Picture 5" descr="pubmed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920240"/>
            <a:ext cx="6309360" cy="307477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0" y="1874520"/>
            <a:ext cx="6528816" cy="3294226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39512" y="1810512"/>
            <a:ext cx="6528816" cy="3294226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ubmed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920240"/>
            <a:ext cx="6309360" cy="30747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TOPIC 6 · 第 1 周进展汇报 · 2026-09-17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08 · 训练过程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4263B"/>
                </a:solidFill>
                <a:latin typeface="Noto Serif SC"/>
              </a:rPr>
              <a:t>五次训练，没有一次出问题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603504" cy="45720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070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3D4E63"/>
                </a:solidFill>
                <a:latin typeface="Noto Sans SC"/>
              </a:rPr>
              <a:t>训练损失单调下降，验证损失到第三轮还在降，没有 NaN。A 的验证损失 0.225 → 0.145，说明三轮没有过拟合。</a:t>
            </a:r>
          </a:p>
        </p:txBody>
      </p:sp>
      <p:pic>
        <p:nvPicPr>
          <p:cNvPr id="6" name="Picture 5" descr="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606040"/>
            <a:ext cx="10515600" cy="224917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5528" y="2560320"/>
            <a:ext cx="10735056" cy="2468626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96312"/>
            <a:ext cx="10735056" cy="2468626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606040"/>
            <a:ext cx="10515600" cy="22491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806440"/>
            <a:ext cx="106070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Wall time on one T4: A 4 h 28 min · B1 CPT 2 h 39 min + SFT 4 h 07 min · B2 CPT 1 h 19 min + SFT 4 h 38 min · each evaluation ≈ 1.5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TOPIC 6 · 第 1 周进展汇报 · 2026-09-17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7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09 · 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4263B"/>
                </a:solidFill>
                <a:latin typeface="Noto Serif SC"/>
              </a:rPr>
              <a:t>主结果是 A，B1 和 B2 是对照证据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603504" cy="45720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070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3D4E63"/>
                </a:solidFill>
                <a:latin typeface="Noto Sans SC"/>
              </a:rPr>
              <a:t>在 3B 模型、冻结视觉塔、几千条数据的条件下，CPT 阶段对医学 VQA 的主指标没有贡献。这是有对照的结论，不是失败的实验，报告里作为「CPT 何时无效」的一章保留。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2898648"/>
            <a:ext cx="3429000" cy="274320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834640"/>
            <a:ext cx="3429000" cy="274320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3017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200" b="1">
                <a:solidFill>
                  <a:srgbClr val="C25E28"/>
                </a:solidFill>
                <a:latin typeface="Consolas"/>
              </a:rPr>
              <a:t>+21.9</a:t>
            </a:r>
            <a:r>
              <a:rPr sz="1100" b="0">
                <a:solidFill>
                  <a:srgbClr val="8C8577"/>
                </a:solidFill>
                <a:latin typeface="Consolas"/>
              </a:rPr>
              <a:t>  SLAKE closed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30175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4263B"/>
                </a:solidFill>
                <a:latin typeface="Noto Serif SC"/>
              </a:rPr>
              <a:t>SFT 有效，而且主要是词表对齐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526280"/>
            <a:ext cx="301752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3D4E63"/>
                </a:solidFill>
                <a:latin typeface="Noto Sans SC"/>
              </a:rPr>
              <a:t>真识别题只到四成和六成，是下一阶段的目标。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5696" y="2898648"/>
            <a:ext cx="3429000" cy="274320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1688" y="2834640"/>
            <a:ext cx="3429000" cy="274320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3017520"/>
            <a:ext cx="3017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200" b="1">
                <a:solidFill>
                  <a:srgbClr val="1F8A70"/>
                </a:solidFill>
                <a:latin typeface="Consolas"/>
              </a:rPr>
              <a:t>±0.6</a:t>
            </a:r>
            <a:r>
              <a:rPr sz="1100" b="0">
                <a:solidFill>
                  <a:srgbClr val="8C8577"/>
                </a:solidFill>
                <a:latin typeface="Consolas"/>
              </a:rPr>
              <a:t>  B1 vs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794760"/>
            <a:ext cx="30175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4263B"/>
                </a:solidFill>
                <a:latin typeface="Noto Serif SC"/>
              </a:rPr>
              <a:t>文本 CPT 只帮文本任务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4526280"/>
            <a:ext cx="301752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3D4E63"/>
                </a:solidFill>
                <a:latin typeface="Noto Sans SC"/>
              </a:rPr>
              <a:t>PubMedQA +2.2，SLAKE 不动。内容和考题对不上就没有迁移。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55864" y="2898648"/>
            <a:ext cx="3429000" cy="274320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1856" y="2834640"/>
            <a:ext cx="3429000" cy="274320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6" y="3017520"/>
            <a:ext cx="3017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200" b="1">
                <a:solidFill>
                  <a:srgbClr val="B8860B"/>
                </a:solidFill>
                <a:latin typeface="Consolas"/>
              </a:rPr>
              <a:t>−9.8</a:t>
            </a:r>
            <a:r>
              <a:rPr sz="1100" b="0">
                <a:solidFill>
                  <a:srgbClr val="8C8577"/>
                </a:solidFill>
                <a:latin typeface="Consolas"/>
              </a:rPr>
              <a:t>  Abnormality open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6" y="3794760"/>
            <a:ext cx="30175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4263B"/>
                </a:solidFill>
                <a:latin typeface="Noto Serif SC"/>
              </a:rPr>
              <a:t>图文 CPT 学到模板，伤了病灶题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4526280"/>
            <a:ext cx="301752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3D4E63"/>
                </a:solidFill>
                <a:latin typeface="Noto Sans SC"/>
              </a:rPr>
              <a:t>要让 CPT 起作用只有两条路：解冻视觉塔，或换异常均衡的语料。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TOPIC 6 · 第 1 周进展汇报 · 2026-09-17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